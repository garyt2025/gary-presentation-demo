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7315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0"/>
            <a:ext cx="2286000" cy="73152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0"/>
            <a:ext cx="2286000" cy="73152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0"/>
            <a:ext cx="2286000" cy="73152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731520"/>
            <a:ext cx="1645920" cy="347472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73152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Google Workspace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1280160"/>
            <a:ext cx="8046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企業生產力</a:t>
            </a:r>
            <a:endParaRPr lang="en-US" sz="5400" dirty="0"/>
          </a:p>
          <a:p>
            <a:pPr algn="l" indent="0" marL="0">
              <a:lnSpc>
                <a:spcPct val="110000"/>
              </a:lnSpc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全面升級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548640" y="333756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 AI 整合與雲端協作，讓您的團隊效率翻倍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0" y="2286000"/>
            <a:ext cx="2286000" cy="2286000"/>
          </a:xfrm>
          <a:prstGeom prst="ellipse">
            <a:avLst/>
          </a:prstGeom>
          <a:solidFill>
            <a:srgbClr val="1A73E8">
              <a:alpha val="15000"/>
            </a:srgbClr>
          </a:solidFill>
          <a:ln w="12700">
            <a:solidFill>
              <a:srgbClr val="1A73E8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0" y="2926080"/>
            <a:ext cx="1371600" cy="1371600"/>
          </a:xfrm>
          <a:prstGeom prst="ellipse">
            <a:avLst/>
          </a:prstGeom>
          <a:solidFill>
            <a:srgbClr val="34A853">
              <a:alpha val="25000"/>
            </a:srgbClr>
          </a:solidFill>
          <a:ln w="12700">
            <a:solidFill>
              <a:srgbClr val="34A853">
                <a:alpha val="25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6B8FAE"/>
                </a:solidFill>
              </a:rPr>
              <a:t>2026 年 3 月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今日議程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453896"/>
            <a:ext cx="457200" cy="45720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14538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1417320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Workspace 是什麼？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709928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產品總覽與核心價值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005840" y="2011680"/>
            <a:ext cx="7772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1480" y="2157984"/>
            <a:ext cx="457200" cy="45720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1579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05840" y="2121408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主要功能亮點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005840" y="2414016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協作、AI、安全性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05840" y="2715768"/>
            <a:ext cx="7772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11480" y="2862072"/>
            <a:ext cx="457200" cy="45720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2862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005840" y="282549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文件整理 × NotebookLM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005840" y="3118104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 Cowork 整理文件並在 NotebookLM 建立資料夾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05840" y="3419856"/>
            <a:ext cx="7772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566160"/>
            <a:ext cx="457200" cy="45720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05840" y="3529584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— PDF 結構化輸出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005840" y="3822192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抓取 PDF 內容，輸出結構化報告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005840" y="4123944"/>
            <a:ext cx="77724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11480" y="4270248"/>
            <a:ext cx="457200" cy="45720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4233672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下一步 &amp; Q&amp;A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452628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評估流程與常見問題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什麼是 Google Workspace？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一套整合 AI 的企業雲端辦公平台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8321040" cy="960120"/>
          </a:xfrm>
          <a:prstGeom prst="rect">
            <a:avLst/>
          </a:prstGeom>
          <a:solidFill>
            <a:srgbClr val="1A73E8">
              <a:alpha val="8000"/>
            </a:srgbClr>
          </a:solidFill>
          <a:ln w="12700">
            <a:solidFill>
              <a:srgbClr val="1A73E8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3716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Workspace 將 Gmail、Meet、Drive、Docs、Sheets、Slides 等工具整合在一個平台，搭載 Gemini AI，讓企業團隊隨時隨地高效協作。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246888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2468880"/>
            <a:ext cx="2697480" cy="6400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260604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3B+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411480" y="32918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全球活躍用戶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291840" y="246888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2468880"/>
            <a:ext cx="2697480" cy="64008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91840" y="260604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291840" y="32918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正常運作時間 SLA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72200" y="2468880"/>
            <a:ext cx="269748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2468880"/>
            <a:ext cx="2697480" cy="64008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2606040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10M+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6172200" y="3291840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企業客戶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11480" y="4160520"/>
            <a:ext cx="8321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3D49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  相較傳統授權軟體，GWS 無需本機安裝、自動更新、跨裝置同步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核心產品一覽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457200" y="859536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· Collaboration · Storage · Intelligence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11480" y="137160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11480" y="1371600"/>
            <a:ext cx="64008" cy="1234440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4813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84708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企業郵件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智慧分類 &amp; 自動回覆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27832" y="137160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27832" y="1371600"/>
            <a:ext cx="64008" cy="123444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64992" y="14813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Meet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64992" y="184708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視訊會議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支援錄影、字幕、AI 摘要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44184" y="1371600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44184" y="1371600"/>
            <a:ext cx="64008" cy="123444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81344" y="148132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81344" y="1847088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雲端硬碟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15GB+ 共享儲存空間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11480" y="2770632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11480" y="2770632"/>
            <a:ext cx="64008" cy="1234440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28803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/ Sheets / Slides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324612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 套件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即時多人協作編輯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27832" y="2770632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227832" y="2770632"/>
            <a:ext cx="64008" cy="123444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64992" y="28803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Chat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64992" y="324612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即時通訊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整合 Spaces 工作空間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044184" y="2770632"/>
            <a:ext cx="265176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044184" y="2770632"/>
            <a:ext cx="64008" cy="123444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81344" y="28803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181344" y="3246120"/>
            <a:ext cx="24688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助理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內建於所有 GWS 工具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0"/>
            <a:ext cx="2286000" cy="54864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0"/>
            <a:ext cx="2286000" cy="54864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0"/>
            <a:ext cx="2286000" cy="54864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為什麼選擇 GWS？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457200" y="85953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對決策者最重要的三大理由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371600"/>
            <a:ext cx="2743200" cy="3383280"/>
          </a:xfrm>
          <a:prstGeom prst="rect">
            <a:avLst/>
          </a:prstGeom>
          <a:solidFill>
            <a:srgbClr val="152D4A"/>
          </a:solidFill>
          <a:ln w="12700">
            <a:solidFill>
              <a:srgbClr val="1A73E8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" y="1371600"/>
            <a:ext cx="2743200" cy="6400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🤝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29768" y="202996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即時協作，省去版本混亂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29768" y="2633472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多人同時編輯 Docs / Sheets / Slides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29768" y="329184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自動儲存，不怕遺失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9768" y="3950208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留言 &amp; 任務指派，溝通在文件內完成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64408" y="1371600"/>
            <a:ext cx="2743200" cy="3383280"/>
          </a:xfrm>
          <a:prstGeom prst="rect">
            <a:avLst/>
          </a:prstGeom>
          <a:solidFill>
            <a:srgbClr val="152D4A"/>
          </a:solidFill>
          <a:ln w="12700">
            <a:solidFill>
              <a:srgbClr val="34A853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64408" y="1371600"/>
            <a:ext cx="2743200" cy="64008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01568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374136" y="202996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AI 全面整合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374136" y="2633472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自動草擬、摘要郵件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74136" y="329184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會議結束自動產出重點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374136" y="3950208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 一鍵生成初稿或翻譯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08776" y="1371600"/>
            <a:ext cx="2743200" cy="3383280"/>
          </a:xfrm>
          <a:prstGeom prst="rect">
            <a:avLst/>
          </a:prstGeom>
          <a:solidFill>
            <a:srgbClr val="152D4A"/>
          </a:solidFill>
          <a:ln w="12700">
            <a:solidFill>
              <a:srgbClr val="FBBC04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208776" y="1371600"/>
            <a:ext cx="2743200" cy="64008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45936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🔒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318504" y="2029968"/>
            <a:ext cx="252374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企業級安全 &amp; 合規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318504" y="2633472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零信任架構（BeyondCorp）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18504" y="3291840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資料不落地，傳輸加密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18504" y="3950208"/>
            <a:ext cx="252374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b="1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符合 ISO 27001、SOC 2 等國際標準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914400" cy="29260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DEMO 1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文件整理 × NotebookLM 自動建檔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Cowork 整理散落文件，透過 MCP 自動在 NotebookLM 建立對應資料夾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5603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371600" y="1874520"/>
            <a:ext cx="685800" cy="685800"/>
          </a:xfrm>
          <a:prstGeom prst="ellipse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37160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1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26517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選取資料夾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30175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告訴 Cowork 你想整理的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文件所在位置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035808" y="2761488"/>
            <a:ext cx="246888" cy="0"/>
          </a:xfrm>
          <a:prstGeom prst="line">
            <a:avLst/>
          </a:prstGeom>
          <a:noFill/>
          <a:ln w="25400">
            <a:solidFill>
              <a:srgbClr val="1A73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1783080"/>
            <a:ext cx="25603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206240" y="1874520"/>
            <a:ext cx="685800" cy="685800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2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291840" y="26517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自動分類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91840" y="30175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Cowork 分析文件內容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依主題自動歸類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870448" y="2761488"/>
            <a:ext cx="246888" cy="0"/>
          </a:xfrm>
          <a:prstGeom prst="line">
            <a:avLst/>
          </a:prstGeom>
          <a:noFill/>
          <a:ln w="25400">
            <a:solidFill>
              <a:srgbClr val="1A73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1783080"/>
            <a:ext cx="2560320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040880" y="1874520"/>
            <a:ext cx="685800" cy="685800"/>
          </a:xfrm>
          <a:prstGeom prst="ellipse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40880" y="18745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3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126480" y="265176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NotebookLM 建檔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126480" y="3017520"/>
            <a:ext cx="25603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 MCP 在 NotebookLM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建立對應專案資料夾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931920"/>
            <a:ext cx="8321040" cy="804672"/>
          </a:xfrm>
          <a:prstGeom prst="rect">
            <a:avLst/>
          </a:prstGeom>
          <a:solidFill>
            <a:srgbClr val="1A73E8">
              <a:alpha val="9000"/>
            </a:srgbClr>
          </a:solidFill>
          <a:ln w="12700">
            <a:solidFill>
              <a:srgbClr val="1A73E8">
                <a:alpha val="4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94360" y="3977640"/>
            <a:ext cx="804672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價值亮點：過去需要人工逐一歸檔的流程，現在只需一句指令，幾分鐘內完成！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0"/>
            <a:ext cx="2286000" cy="54864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0"/>
            <a:ext cx="2286000" cy="54864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0"/>
            <a:ext cx="2286000" cy="54864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56032"/>
            <a:ext cx="1371600" cy="29260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6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DEMO 1 Prompt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實際使用的指令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複製下方 Prompt，在 Cowork 視窗中貼上並執行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00200"/>
            <a:ext cx="8321040" cy="3017520"/>
          </a:xfrm>
          <a:prstGeom prst="rect">
            <a:avLst/>
          </a:prstGeom>
          <a:solidFill>
            <a:srgbClr val="101C2E"/>
          </a:solidFill>
          <a:ln w="12700">
            <a:solidFill>
              <a:srgbClr val="1A73E8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1737360"/>
            <a:ext cx="164592" cy="164592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1737360"/>
            <a:ext cx="164592" cy="164592"/>
          </a:xfrm>
          <a:prstGeom prst="ellipse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34440" y="1737360"/>
            <a:ext cx="164592" cy="164592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057400"/>
            <a:ext cx="7863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9F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DEMO 1 — 文件整理 × NotebookLM 建檔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" y="2272284"/>
            <a:ext cx="7863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" y="2487168"/>
            <a:ext cx="7863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請幫我完成以下任務：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8368" y="2702052"/>
            <a:ext cx="7863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" y="2916936"/>
            <a:ext cx="7863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掃描我選取的資料夾中所有文件（PDF、Word、試算表）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" y="3131820"/>
            <a:ext cx="7863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依照文件的主題與內容自動分類，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8368" y="3346704"/>
            <a:ext cx="7863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並列出分類結果讓我確認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8368" y="3561588"/>
            <a:ext cx="7863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BC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確認後，透過 NotebookLM MCP 在 NotebookLM 建立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8368" y="3776472"/>
            <a:ext cx="7863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BC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對應的專案資料夾（每個主題一個），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8368" y="3991356"/>
            <a:ext cx="7863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BC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並將相關文件上傳至對應資料夾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8368" y="4206240"/>
            <a:ext cx="7863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8368" y="4421124"/>
            <a:ext cx="7863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完成後告訴我建立了幾個資料夾、處理了幾份文件。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56032"/>
            <a:ext cx="914400" cy="292608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914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DEMO 2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621792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結構化輸出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207008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 PDF 文件中抓取重點，自動輸出整齊的結構化報告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A4335"/>
                </a:solidFill>
              </a:rPr>
              <a:t>Before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754880" y="17190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4A853"/>
                </a:solidFill>
              </a:rPr>
              <a:t>After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2084832"/>
            <a:ext cx="3931920" cy="2578608"/>
          </a:xfrm>
          <a:prstGeom prst="rect">
            <a:avLst/>
          </a:prstGeom>
          <a:solidFill>
            <a:srgbClr val="FFF5F5"/>
          </a:solidFill>
          <a:ln w="12700">
            <a:solidFill>
              <a:srgbClr val="EA4335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240280"/>
            <a:ext cx="35661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厚厚一份 PDF 合約 / 報告
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頁數多、沒有摘要
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需要人工逐頁閱讀
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重要數字散落各處
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EA43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無法快速比較或彙整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407408" y="3374136"/>
            <a:ext cx="329184" cy="0"/>
          </a:xfrm>
          <a:prstGeom prst="line">
            <a:avLst/>
          </a:prstGeom>
          <a:noFill/>
          <a:ln w="25400">
            <a:solidFill>
              <a:srgbClr val="3D496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2084832"/>
            <a:ext cx="3931920" cy="2578608"/>
          </a:xfrm>
          <a:prstGeom prst="rect">
            <a:avLst/>
          </a:prstGeom>
          <a:solidFill>
            <a:srgbClr val="F0FFF6"/>
          </a:solidFill>
          <a:ln w="12700">
            <a:solidFill>
              <a:srgbClr val="34A853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240280"/>
            <a:ext cx="3566160" cy="2240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自動產出結構化摘要
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重點條列，清楚易讀
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關鍵數字 / 日期自動標記
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輸出為 Word / Markdown / 試算表
</a:t>
            </a:r>
            <a:endParaRPr lang="en-US" sz="1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1200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一份文件 → 立即可用的報告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4709160"/>
            <a:ext cx="8321040" cy="338328"/>
          </a:xfrm>
          <a:prstGeom prst="rect">
            <a:avLst/>
          </a:prstGeom>
          <a:solidFill>
            <a:srgbClr val="34A853">
              <a:alpha val="10000"/>
            </a:srgbClr>
          </a:solidFill>
          <a:ln w="12700">
            <a:solidFill>
              <a:srgbClr val="34A853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736592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  過去需要 2-3 小時的閱讀整理，現在 5 分鐘完成！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0"/>
            <a:ext cx="2286000" cy="54864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0"/>
            <a:ext cx="2286000" cy="54864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0"/>
            <a:ext cx="2286000" cy="54864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256032"/>
            <a:ext cx="1371600" cy="292608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56032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DEMO 2 Prompt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實際使用的指令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將 PDF 拖曳進 Cowork，並輸入以下 Prompt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1600200"/>
            <a:ext cx="8321040" cy="3017520"/>
          </a:xfrm>
          <a:prstGeom prst="rect">
            <a:avLst/>
          </a:prstGeom>
          <a:solidFill>
            <a:srgbClr val="101C2E"/>
          </a:solidFill>
          <a:ln w="12700">
            <a:solidFill>
              <a:srgbClr val="34A853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85800" y="1737360"/>
            <a:ext cx="164592" cy="164592"/>
          </a:xfrm>
          <a:prstGeom prst="ellipse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0120" y="1737360"/>
            <a:ext cx="164592" cy="164592"/>
          </a:xfrm>
          <a:prstGeom prst="ellipse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234440" y="1737360"/>
            <a:ext cx="164592" cy="164592"/>
          </a:xfrm>
          <a:prstGeom prst="ellipse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2057400"/>
            <a:ext cx="7863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6BD4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DEMO 2 — PDF 結構化輸出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58368" y="2272284"/>
            <a:ext cx="7863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" y="2487168"/>
            <a:ext cx="7863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請讀取我上傳的這份 PDF 文件，並完成以下工作：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8368" y="2702052"/>
            <a:ext cx="7863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" y="2916936"/>
            <a:ext cx="7863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📋 文件摘要（200字以內）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58368" y="3131820"/>
            <a:ext cx="7863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🔑 主要重點條列（5-8點）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58368" y="3346704"/>
            <a:ext cx="7863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BC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📊 所有數字 / 日期 / 金額整理成表格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8368" y="3561588"/>
            <a:ext cx="7863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BBC0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⚠️  需要注意的條款或風險（如有）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58368" y="3776472"/>
            <a:ext cx="7863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D3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💡 建議的後續行動事項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58368" y="3991356"/>
            <a:ext cx="7863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58368" y="4206240"/>
            <a:ext cx="7863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輸出格式：請存成 Word 文件（.docx），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58368" y="4421124"/>
            <a:ext cx="7863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並附上可直接使用的 Markdown 版本。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21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0" cy="54864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0" y="0"/>
            <a:ext cx="2286000" cy="54864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0" y="0"/>
            <a:ext cx="2286000" cy="54864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0"/>
            <a:ext cx="2286000" cy="54864"/>
          </a:xfrm>
          <a:prstGeom prst="rect">
            <a:avLst/>
          </a:prstGeom>
          <a:solidFill>
            <a:srgbClr val="EA4335"/>
          </a:solidFill>
          <a:ln w="12700">
            <a:solidFill>
              <a:srgbClr val="EA433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32004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下一步 &amp; Q&amp;A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548640" y="914400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讓我們一起找到最適合您團隊的方案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463040"/>
            <a:ext cx="2697480" cy="2011680"/>
          </a:xfrm>
          <a:prstGeom prst="rect">
            <a:avLst/>
          </a:prstGeom>
          <a:solidFill>
            <a:srgbClr val="152D4A"/>
          </a:solidFill>
          <a:ln w="12700">
            <a:solidFill>
              <a:srgbClr val="1A73E8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463040"/>
            <a:ext cx="2697480" cy="64008"/>
          </a:xfrm>
          <a:prstGeom prst="rect">
            <a:avLst/>
          </a:prstGeom>
          <a:solidFill>
            <a:srgbClr val="1A73E8"/>
          </a:solidFill>
          <a:ln w="12700">
            <a:solidFill>
              <a:srgbClr val="1A73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57276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📋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57200" y="212140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7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2450592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盤點現有工具與流程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37560" y="1463040"/>
            <a:ext cx="2697480" cy="2011680"/>
          </a:xfrm>
          <a:prstGeom prst="rect">
            <a:avLst/>
          </a:prstGeom>
          <a:solidFill>
            <a:srgbClr val="152D4A"/>
          </a:solidFill>
          <a:ln w="12700">
            <a:solidFill>
              <a:srgbClr val="34A853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337560" y="1463040"/>
            <a:ext cx="2697480" cy="64008"/>
          </a:xfrm>
          <a:prstGeom prst="rect">
            <a:avLst/>
          </a:prstGeom>
          <a:solidFill>
            <a:srgbClr val="34A853"/>
          </a:solidFill>
          <a:ln w="12700">
            <a:solidFill>
              <a:srgbClr val="34A85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157276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🧪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3337560" y="212140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4A8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37560" y="2450592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申請 GWS 免費試用（14天）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217920" y="1463040"/>
            <a:ext cx="2697480" cy="2011680"/>
          </a:xfrm>
          <a:prstGeom prst="rect">
            <a:avLst/>
          </a:prstGeom>
          <a:solidFill>
            <a:srgbClr val="152D4A"/>
          </a:solidFill>
          <a:ln w="12700">
            <a:solidFill>
              <a:srgbClr val="FBBC04">
                <a:alpha val="60000"/>
              </a:srgbClr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463040"/>
            <a:ext cx="2697480" cy="64008"/>
          </a:xfrm>
          <a:prstGeom prst="rect">
            <a:avLst/>
          </a:prstGeom>
          <a:solidFill>
            <a:srgbClr val="FBBC04"/>
          </a:solidFill>
          <a:ln w="12700">
            <a:solidFill>
              <a:srgbClr val="FBBC0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17920" y="1572768"/>
            <a:ext cx="2697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🚀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217920" y="2121408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BBC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17920" y="2450592"/>
            <a:ext cx="26974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C8DC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選定 Pilot 部門，開始導入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675888"/>
            <a:ext cx="8321040" cy="0"/>
          </a:xfrm>
          <a:prstGeom prst="line">
            <a:avLst/>
          </a:prstGeom>
          <a:noFill/>
          <a:ln w="12700">
            <a:solidFill>
              <a:srgbClr val="2A4A6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38221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有任何問題，歡迎當場提問 🙋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8640" y="42519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8C4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或聯繫我們進行進一步評估與報價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0" y="4114800"/>
            <a:ext cx="1645920" cy="1645920"/>
          </a:xfrm>
          <a:prstGeom prst="ellipse">
            <a:avLst/>
          </a:prstGeom>
          <a:solidFill>
            <a:srgbClr val="1A73E8">
              <a:alpha val="12000"/>
            </a:srgbClr>
          </a:solidFill>
          <a:ln w="12700">
            <a:solidFill>
              <a:srgbClr val="1A73E8">
                <a:alpha val="12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-274320" y="3840480"/>
            <a:ext cx="1188720" cy="1188720"/>
          </a:xfrm>
          <a:prstGeom prst="ellipse">
            <a:avLst/>
          </a:prstGeom>
          <a:solidFill>
            <a:srgbClr val="34A853">
              <a:alpha val="20000"/>
            </a:srgbClr>
          </a:solidFill>
          <a:ln w="12700">
            <a:solidFill>
              <a:srgbClr val="34A853">
                <a:alpha val="20000"/>
              </a:srgbClr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Google Workspace 企業導入說明</dc:title>
  <dc:subject>PptxGenJS Presentation</dc:subject>
  <dc:creator>PptxGenJS</dc:creator>
  <cp:lastModifiedBy>PptxGenJS</cp:lastModifiedBy>
  <cp:revision>1</cp:revision>
  <dcterms:created xsi:type="dcterms:W3CDTF">2026-03-19T05:39:27Z</dcterms:created>
  <dcterms:modified xsi:type="dcterms:W3CDTF">2026-03-19T05:39:27Z</dcterms:modified>
</cp:coreProperties>
</file>