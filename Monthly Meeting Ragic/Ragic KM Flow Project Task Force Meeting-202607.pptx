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7"/>
  </p:notesMasterIdLst>
  <p:sldIdLst>
    <p:sldId id="256" r:id="rId4"/>
    <p:sldId id="411" r:id="rId5"/>
    <p:sldId id="412" r:id="rId6"/>
    <p:sldId id="420" r:id="rId7"/>
    <p:sldId id="421" r:id="rId8"/>
    <p:sldId id="422" r:id="rId9"/>
    <p:sldId id="423" r:id="rId10"/>
    <p:sldId id="424" r:id="rId11"/>
    <p:sldId id="427" r:id="rId12"/>
    <p:sldId id="428" r:id="rId13"/>
    <p:sldId id="429" r:id="rId14"/>
    <p:sldId id="264" r:id="rId15"/>
    <p:sldId id="302" r:id="rId16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AE9D"/>
    <a:srgbClr val="0000FF"/>
    <a:srgbClr val="3F3A3A"/>
    <a:srgbClr val="E94830"/>
    <a:srgbClr val="FFD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644757-2A66-4908-BDEF-1CE9DDBCA11F}" v="1" dt="2026-08-05T03:28:43.550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4660"/>
  </p:normalViewPr>
  <p:slideViewPr>
    <p:cSldViewPr snapToGrid="0">
      <p:cViewPr varScale="1">
        <p:scale>
          <a:sx n="68" d="100"/>
          <a:sy n="68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y Tzeng 曾文信" userId="18fa261b-e0a3-457f-88f3-8cbfc1987e02" providerId="ADAL" clId="{66CF6D41-D14F-4EEB-8B29-A021982464CE}"/>
    <pc:docChg chg="undo custSel addSld delSld modSld">
      <pc:chgData name="Gary Tzeng 曾文信" userId="18fa261b-e0a3-457f-88f3-8cbfc1987e02" providerId="ADAL" clId="{66CF6D41-D14F-4EEB-8B29-A021982464CE}" dt="2026-08-05T03:28:43.543" v="1098"/>
      <pc:docMkLst>
        <pc:docMk/>
      </pc:docMkLst>
      <pc:sldChg chg="add">
        <pc:chgData name="Gary Tzeng 曾文信" userId="18fa261b-e0a3-457f-88f3-8cbfc1987e02" providerId="ADAL" clId="{66CF6D41-D14F-4EEB-8B29-A021982464CE}" dt="2026-08-05T03:28:43.543" v="1098"/>
        <pc:sldMkLst>
          <pc:docMk/>
          <pc:sldMk cId="409920026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E88E8-8DDA-441F-AB74-B81AAA1C9DB8}" type="datetimeFigureOut">
              <a:rPr lang="zh-TW" altLang="en-US" smtClean="0"/>
              <a:t>2026/8/5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A525-C13F-4D53-BEBE-19C9BB4F2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949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37F55-EBA8-487B-865A-BD26F88C998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8931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4769489-7550-9B17-E630-AF5D0A88D9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915" y="2350491"/>
            <a:ext cx="12195429" cy="400585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15DF815-5EA9-081C-7A8B-B02959ECE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187" y="2350491"/>
            <a:ext cx="8007869" cy="911620"/>
          </a:xfrm>
          <a:prstGeom prst="rect">
            <a:avLst/>
          </a:prstGeom>
        </p:spPr>
        <p:txBody>
          <a:bodyPr anchor="t"/>
          <a:lstStyle>
            <a:lvl1pPr algn="l">
              <a:defRPr sz="4800" b="1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4668C1B-B0A6-0800-632D-876D9CCF8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187" y="3386476"/>
            <a:ext cx="7623821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502AD48-2674-4583-B359-E5CA5A8326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1187" y="447848"/>
            <a:ext cx="3305866" cy="67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4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1330A977-BEDB-9ACB-9D1B-BDFA12E819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8352" y="6432063"/>
            <a:ext cx="11213648" cy="42593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C88AEAC-14DD-33D3-1946-6FAC2543AC81}"/>
              </a:ext>
            </a:extLst>
          </p:cNvPr>
          <p:cNvSpPr txBox="1"/>
          <p:nvPr userDrawn="1"/>
        </p:nvSpPr>
        <p:spPr>
          <a:xfrm>
            <a:off x="436189" y="439837"/>
            <a:ext cx="24785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5400" b="1" kern="1200" noProof="0">
                <a:solidFill>
                  <a:srgbClr val="29AE9D"/>
                </a:solidFill>
                <a:latin typeface="Mukta Regular" panose="020B0000000000000000" pitchFamily="34" charset="0"/>
                <a:ea typeface="Noto Sans CJK TC Regular" panose="020B0500000000000000" pitchFamily="34" charset="-128"/>
                <a:cs typeface="Mukta Regular" panose="020B0000000000000000" pitchFamily="34" charset="0"/>
              </a:rPr>
              <a:t>Agenda</a:t>
            </a:r>
            <a:endParaRPr kumimoji="1" lang="zh-TW" altLang="en-US" sz="5400" b="1" kern="1200">
              <a:solidFill>
                <a:srgbClr val="29AE9D"/>
              </a:solidFill>
              <a:latin typeface="Mukta Regular" panose="020B0000000000000000" pitchFamily="34" charset="0"/>
              <a:ea typeface="Noto Sans CJK TC Regular" panose="020B0500000000000000" pitchFamily="34" charset="-128"/>
              <a:cs typeface="Mukta Regular" panose="020B0000000000000000" pitchFamily="34" charset="0"/>
            </a:endParaRPr>
          </a:p>
        </p:txBody>
      </p:sp>
      <p:sp>
        <p:nvSpPr>
          <p:cNvPr id="41" name="內容版面配置區 40">
            <a:extLst>
              <a:ext uri="{FF2B5EF4-FFF2-40B4-BE49-F238E27FC236}">
                <a16:creationId xmlns:a16="http://schemas.microsoft.com/office/drawing/2014/main" id="{4ABE87E5-D7CA-E07F-14AE-0193030E568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813266" y="2648351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46" name="內容版面配置區 45">
            <a:extLst>
              <a:ext uri="{FF2B5EF4-FFF2-40B4-BE49-F238E27FC236}">
                <a16:creationId xmlns:a16="http://schemas.microsoft.com/office/drawing/2014/main" id="{896EDCE7-92CB-7404-8737-893542995F1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787629" y="2545952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輸入編號</a:t>
            </a:r>
          </a:p>
        </p:txBody>
      </p:sp>
      <p:sp>
        <p:nvSpPr>
          <p:cNvPr id="47" name="內容版面配置區 40">
            <a:extLst>
              <a:ext uri="{FF2B5EF4-FFF2-40B4-BE49-F238E27FC236}">
                <a16:creationId xmlns:a16="http://schemas.microsoft.com/office/drawing/2014/main" id="{88AFF716-E14D-C4F2-C01E-B03AE92E83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501141" y="2648351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48" name="內容版面配置區 45">
            <a:extLst>
              <a:ext uri="{FF2B5EF4-FFF2-40B4-BE49-F238E27FC236}">
                <a16:creationId xmlns:a16="http://schemas.microsoft.com/office/drawing/2014/main" id="{30DEDB5C-C1A0-B676-902D-8A2BA6F2ECB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475504" y="2545952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輸入編號</a:t>
            </a:r>
          </a:p>
        </p:txBody>
      </p:sp>
      <p:sp>
        <p:nvSpPr>
          <p:cNvPr id="49" name="內容版面配置區 40">
            <a:extLst>
              <a:ext uri="{FF2B5EF4-FFF2-40B4-BE49-F238E27FC236}">
                <a16:creationId xmlns:a16="http://schemas.microsoft.com/office/drawing/2014/main" id="{C68F3C21-0AB4-9FA9-A287-063BFF45DBC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13266" y="3817394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0" name="內容版面配置區 45">
            <a:extLst>
              <a:ext uri="{FF2B5EF4-FFF2-40B4-BE49-F238E27FC236}">
                <a16:creationId xmlns:a16="http://schemas.microsoft.com/office/drawing/2014/main" id="{3541B227-614B-9AE0-54D4-F646795663A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87629" y="3714995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輸入編號</a:t>
            </a:r>
          </a:p>
        </p:txBody>
      </p:sp>
      <p:sp>
        <p:nvSpPr>
          <p:cNvPr id="51" name="內容版面配置區 40">
            <a:extLst>
              <a:ext uri="{FF2B5EF4-FFF2-40B4-BE49-F238E27FC236}">
                <a16:creationId xmlns:a16="http://schemas.microsoft.com/office/drawing/2014/main" id="{DE866EA1-8734-C59C-6493-DC88BD5B4C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501141" y="3817394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2" name="內容版面配置區 45">
            <a:extLst>
              <a:ext uri="{FF2B5EF4-FFF2-40B4-BE49-F238E27FC236}">
                <a16:creationId xmlns:a16="http://schemas.microsoft.com/office/drawing/2014/main" id="{60C0B60A-5A81-4849-350D-9E3249309E9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475504" y="3714995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輸入編號</a:t>
            </a:r>
          </a:p>
        </p:txBody>
      </p:sp>
      <p:sp>
        <p:nvSpPr>
          <p:cNvPr id="53" name="內容版面配置區 40">
            <a:extLst>
              <a:ext uri="{FF2B5EF4-FFF2-40B4-BE49-F238E27FC236}">
                <a16:creationId xmlns:a16="http://schemas.microsoft.com/office/drawing/2014/main" id="{716CBCAF-7AB0-AE70-0AE2-FB4867BFFDE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13266" y="4870690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4" name="內容版面配置區 45">
            <a:extLst>
              <a:ext uri="{FF2B5EF4-FFF2-40B4-BE49-F238E27FC236}">
                <a16:creationId xmlns:a16="http://schemas.microsoft.com/office/drawing/2014/main" id="{52146E8B-CA29-C208-8B26-03B8CB51E6B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2787629" y="4768291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輸入編號</a:t>
            </a:r>
          </a:p>
        </p:txBody>
      </p:sp>
      <p:sp>
        <p:nvSpPr>
          <p:cNvPr id="55" name="內容版面配置區 40">
            <a:extLst>
              <a:ext uri="{FF2B5EF4-FFF2-40B4-BE49-F238E27FC236}">
                <a16:creationId xmlns:a16="http://schemas.microsoft.com/office/drawing/2014/main" id="{B6F4EE77-17F2-77C4-8EFD-C6514337F56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501141" y="4870690"/>
            <a:ext cx="3068679" cy="5307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6" name="內容版面配置區 45">
            <a:extLst>
              <a:ext uri="{FF2B5EF4-FFF2-40B4-BE49-F238E27FC236}">
                <a16:creationId xmlns:a16="http://schemas.microsoft.com/office/drawing/2014/main" id="{972BB3CA-65BF-B1E9-B605-D435180A2FA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475504" y="4768291"/>
            <a:ext cx="864156" cy="735514"/>
          </a:xfrm>
          <a:prstGeom prst="parallelogram">
            <a:avLst/>
          </a:prstGeom>
          <a:solidFill>
            <a:srgbClr val="29AE9D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pPr lvl="0"/>
            <a:r>
              <a:rPr kumimoji="1" lang="zh-TW" altLang="en-US"/>
              <a:t>輸入編號</a:t>
            </a:r>
          </a:p>
        </p:txBody>
      </p:sp>
    </p:spTree>
    <p:extLst>
      <p:ext uri="{BB962C8B-B14F-4D97-AF65-F5344CB8AC3E}">
        <p14:creationId xmlns:p14="http://schemas.microsoft.com/office/powerpoint/2010/main" val="20418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392F738-8D03-45EF-D78E-A9FB879AE0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1476" y="0"/>
            <a:ext cx="3318933" cy="6858000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CE1364E-5C19-FA91-77AF-4F01587B2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1187" y="587006"/>
            <a:ext cx="6645413" cy="911620"/>
          </a:xfrm>
          <a:prstGeom prst="rect">
            <a:avLst/>
          </a:prstGeom>
        </p:spPr>
        <p:txBody>
          <a:bodyPr anchor="t"/>
          <a:lstStyle>
            <a:lvl1pPr algn="l">
              <a:defRPr sz="4800" b="1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/>
              <a:t>分隔頁主標題</a:t>
            </a: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823497FD-7FCD-C2FE-0631-9FCAA1CB38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1187" y="1622991"/>
            <a:ext cx="632670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分隔頁副標題</a:t>
            </a:r>
          </a:p>
        </p:txBody>
      </p:sp>
    </p:spTree>
    <p:extLst>
      <p:ext uri="{BB962C8B-B14F-4D97-AF65-F5344CB8AC3E}">
        <p14:creationId xmlns:p14="http://schemas.microsoft.com/office/powerpoint/2010/main" val="107389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bg>
      <p:bgPr>
        <a:solidFill>
          <a:srgbClr val="29A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CE1364E-5C19-FA91-77AF-4F01587B2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1187" y="587006"/>
            <a:ext cx="6645413" cy="911620"/>
          </a:xfrm>
          <a:prstGeom prst="rect">
            <a:avLst/>
          </a:prstGeom>
        </p:spPr>
        <p:txBody>
          <a:bodyPr anchor="t"/>
          <a:lstStyle>
            <a:lvl1pPr algn="l">
              <a:defRPr sz="4800" b="1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/>
              <a:t>分隔頁主標題</a:t>
            </a: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823497FD-7FCD-C2FE-0631-9FCAA1CB38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1187" y="1622991"/>
            <a:ext cx="632670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分隔頁副標題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61B3B78-D8B0-B0B7-9134-E00E323449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3328223"/>
            <a:ext cx="12176982" cy="294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95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47CDDC2-BA45-4C4E-F6DC-0B8D68A4FB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617134"/>
            <a:ext cx="12192000" cy="3623732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CE1364E-5C19-FA91-77AF-4F01587B2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73293" y="2616245"/>
            <a:ext cx="6645413" cy="911620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/>
              <a:t>分隔頁主標題</a:t>
            </a: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823497FD-7FCD-C2FE-0631-9FCAA1CB38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645" y="3743415"/>
            <a:ext cx="6326707" cy="60604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0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分隔頁副標題</a:t>
            </a:r>
          </a:p>
        </p:txBody>
      </p:sp>
    </p:spTree>
    <p:extLst>
      <p:ext uri="{BB962C8B-B14F-4D97-AF65-F5344CB8AC3E}">
        <p14:creationId xmlns:p14="http://schemas.microsoft.com/office/powerpoint/2010/main" val="2549932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CE8D0A6D-1229-9743-6263-0A823CE10459}"/>
              </a:ext>
            </a:extLst>
          </p:cNvPr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31750">
            <a:solidFill>
              <a:srgbClr val="29AE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2F0C0E5-1F9D-B66D-D2E8-C39C5EBCDBF3}"/>
              </a:ext>
            </a:extLst>
          </p:cNvPr>
          <p:cNvSpPr txBox="1"/>
          <p:nvPr userDrawn="1"/>
        </p:nvSpPr>
        <p:spPr>
          <a:xfrm>
            <a:off x="132009" y="6488668"/>
            <a:ext cx="6111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/>
              <a:t>Facilitating Control Innovation</a:t>
            </a:r>
          </a:p>
        </p:txBody>
      </p:sp>
      <p:sp>
        <p:nvSpPr>
          <p:cNvPr id="12" name="投影片編號版面配置區 8">
            <a:extLst>
              <a:ext uri="{FF2B5EF4-FFF2-40B4-BE49-F238E27FC236}">
                <a16:creationId xmlns:a16="http://schemas.microsoft.com/office/drawing/2014/main" id="{102C032D-8DE9-5386-F15A-DD6D7C66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21148" y="6478074"/>
            <a:ext cx="2267107" cy="365125"/>
          </a:xfrm>
          <a:prstGeom prst="rect">
            <a:avLst/>
          </a:prstGeom>
        </p:spPr>
        <p:txBody>
          <a:bodyPr/>
          <a:lstStyle/>
          <a:p>
            <a:fld id="{296995A3-51C5-3745-9E63-D6C011083F1B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02B49B0F-148E-ADC9-7523-7EAF9F74AE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9521" y="451778"/>
            <a:ext cx="3924750" cy="546329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29AE9D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</a:lstStyle>
          <a:p>
            <a:r>
              <a:rPr kumimoji="1" lang="zh-TW" altLang="en-US"/>
              <a:t>內頁主標題</a:t>
            </a:r>
          </a:p>
        </p:txBody>
      </p:sp>
      <p:sp>
        <p:nvSpPr>
          <p:cNvPr id="16" name="副標題 2">
            <a:extLst>
              <a:ext uri="{FF2B5EF4-FFF2-40B4-BE49-F238E27FC236}">
                <a16:creationId xmlns:a16="http://schemas.microsoft.com/office/drawing/2014/main" id="{93C12410-6CFF-2967-1D3E-E7E4FBA0B7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9522" y="1773238"/>
            <a:ext cx="514824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rgbClr val="3F3A3A"/>
                </a:solidFill>
                <a:latin typeface="Noto Sans CJK TC Regular" panose="020B0500000000000000" pitchFamily="34" charset="-128"/>
                <a:ea typeface="Noto Sans CJK TC Regular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內頁文字</a:t>
            </a:r>
          </a:p>
        </p:txBody>
      </p:sp>
    </p:spTree>
    <p:extLst>
      <p:ext uri="{BB962C8B-B14F-4D97-AF65-F5344CB8AC3E}">
        <p14:creationId xmlns:p14="http://schemas.microsoft.com/office/powerpoint/2010/main" val="961766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B9E7D6E-DAEE-22E7-7A37-F7D20E73D2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05227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2B027F3-EC2E-4067-D921-5E5E28D7CA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052271"/>
            <a:ext cx="12192000" cy="480572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3FE25E1-B9BE-126A-A3D3-23C49E79B0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0210" y="787942"/>
            <a:ext cx="2606043" cy="534158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37B58E0D-024B-AC4E-0B2E-D0E98C96FD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95807" y="540408"/>
            <a:ext cx="3585983" cy="1029226"/>
          </a:xfrm>
          <a:prstGeom prst="rect">
            <a:avLst/>
          </a:prstGeo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  <a:latin typeface="Mukta Regular" panose="020B0000000000000000" pitchFamily="34" charset="0"/>
                <a:ea typeface="Noto Sans CJK TC Regular" panose="020B0500000000000000" pitchFamily="34" charset="-128"/>
                <a:cs typeface="Mukta Regular" panose="020B0000000000000000" pitchFamily="34" charset="0"/>
              </a:defRPr>
            </a:lvl1pPr>
          </a:lstStyle>
          <a:p>
            <a:r>
              <a:rPr kumimoji="1" lang="en-US" altLang="zh-TW"/>
              <a:t>Thank You for</a:t>
            </a:r>
            <a:br>
              <a:rPr kumimoji="1" lang="en-US" altLang="zh-TW"/>
            </a:br>
            <a:r>
              <a:rPr kumimoji="1" lang="en-US" altLang="zh-TW"/>
              <a:t>Your Attention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66955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C5CCB7E-2D16-4C36-05F3-51C0A53E35CC}"/>
              </a:ext>
            </a:extLst>
          </p:cNvPr>
          <p:cNvSpPr/>
          <p:nvPr userDrawn="1"/>
        </p:nvSpPr>
        <p:spPr>
          <a:xfrm>
            <a:off x="1346200" y="0"/>
            <a:ext cx="4064000" cy="68580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0B0D3D6-F2E9-A58C-5881-182E52C59C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69560" y="6209488"/>
            <a:ext cx="590079" cy="419161"/>
          </a:xfrm>
          <a:prstGeom prst="rect">
            <a:avLst/>
          </a:prstGeom>
          <a:noFill/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C7C349B-ED26-8528-DE45-F213FE2D82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1875" r="21875"/>
          <a:stretch/>
        </p:blipFill>
        <p:spPr>
          <a:xfrm>
            <a:off x="1891795" y="1086952"/>
            <a:ext cx="3045964" cy="304596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8144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2CA935E-D391-196C-DBA1-C20538997507}"/>
              </a:ext>
            </a:extLst>
          </p:cNvPr>
          <p:cNvSpPr/>
          <p:nvPr userDrawn="1"/>
        </p:nvSpPr>
        <p:spPr>
          <a:xfrm>
            <a:off x="0" y="3051208"/>
            <a:ext cx="3965823" cy="2425758"/>
          </a:xfrm>
          <a:prstGeom prst="rect">
            <a:avLst/>
          </a:prstGeom>
          <a:solidFill>
            <a:srgbClr val="33CCCC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平行四邊形 6">
            <a:extLst>
              <a:ext uri="{FF2B5EF4-FFF2-40B4-BE49-F238E27FC236}">
                <a16:creationId xmlns:a16="http://schemas.microsoft.com/office/drawing/2014/main" id="{AB275378-4DDD-EEBC-EA12-2B95EA709DE1}"/>
              </a:ext>
            </a:extLst>
          </p:cNvPr>
          <p:cNvSpPr/>
          <p:nvPr userDrawn="1"/>
        </p:nvSpPr>
        <p:spPr>
          <a:xfrm rot="5400000">
            <a:off x="2861602" y="4155429"/>
            <a:ext cx="2687121" cy="478679"/>
          </a:xfrm>
          <a:prstGeom prst="parallelogram">
            <a:avLst>
              <a:gd name="adj" fmla="val 57258"/>
            </a:avLst>
          </a:prstGeom>
          <a:solidFill>
            <a:srgbClr val="00999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221428-7C05-F146-8ABC-C88B18CB5690}"/>
              </a:ext>
            </a:extLst>
          </p:cNvPr>
          <p:cNvSpPr/>
          <p:nvPr userDrawn="1"/>
        </p:nvSpPr>
        <p:spPr>
          <a:xfrm>
            <a:off x="4444502" y="3312571"/>
            <a:ext cx="7765151" cy="2425758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FBB4B31-3935-181D-ABEC-3593BC615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7139" y="4172571"/>
            <a:ext cx="47625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7630638-4F04-C814-28BC-338EFF7D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2023/6/30</a:t>
            </a:r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9699A78-17B8-E6C4-79ED-C1129CD73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C6DBE99-4F46-B4C9-1EA7-1675A341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BF6D2-2176-46B8-8079-8715483BD4A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6664D6E-B0C0-9673-DCEA-F0005A1194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69560" y="6209488"/>
            <a:ext cx="590079" cy="4191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8164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80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89167BC-CDF0-587A-3E85-118509C6BC7C}"/>
              </a:ext>
            </a:extLst>
          </p:cNvPr>
          <p:cNvSpPr txBox="1">
            <a:spLocks/>
          </p:cNvSpPr>
          <p:nvPr/>
        </p:nvSpPr>
        <p:spPr>
          <a:xfrm>
            <a:off x="5967788" y="2146682"/>
            <a:ext cx="5783921" cy="84175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MS Gothic"/>
              <a:cs typeface="Arial"/>
            </a:endParaRPr>
          </a:p>
        </p:txBody>
      </p:sp>
      <p:sp>
        <p:nvSpPr>
          <p:cNvPr id="15" name="副標題 2">
            <a:extLst>
              <a:ext uri="{FF2B5EF4-FFF2-40B4-BE49-F238E27FC236}">
                <a16:creationId xmlns:a16="http://schemas.microsoft.com/office/drawing/2014/main" id="{DB568A1F-A0F9-9223-5963-B056B96ECDD2}"/>
              </a:ext>
            </a:extLst>
          </p:cNvPr>
          <p:cNvSpPr txBox="1">
            <a:spLocks/>
          </p:cNvSpPr>
          <p:nvPr/>
        </p:nvSpPr>
        <p:spPr>
          <a:xfrm>
            <a:off x="7136637" y="5314490"/>
            <a:ext cx="1856742" cy="384803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Present by: Gary Tzeng</a:t>
            </a:r>
            <a:endParaRPr kumimoji="0" lang="zh-TW" altLang="en-US" sz="16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037A7F78-7F09-1679-343D-527C6BB282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kumimoji="0" lang="en-US" altLang="zh-TW" sz="2600" b="1" i="0" u="none" strike="noStrike" kern="1200" cap="none" spc="50" normalizeH="0" baseline="0" noProof="0">
                <a:ln w="0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MS Gothic" pitchFamily="49" charset="-128"/>
                <a:cs typeface="Arial" panose="020B0604020202020204" pitchFamily="34" charset="0"/>
              </a:rPr>
              <a:t>Ragic / KM / Flow Project </a:t>
            </a:r>
            <a:r>
              <a:rPr lang="en-US" altLang="zh-TW" sz="2600" b="1" spc="50">
                <a:ln w="0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MS Gothic" pitchFamily="49" charset="-128"/>
                <a:cs typeface="Arial" panose="020B0604020202020204" pitchFamily="34" charset="0"/>
              </a:rPr>
              <a:t>Task Force Meeting</a:t>
            </a:r>
            <a:br>
              <a:rPr lang="en-US" altLang="zh-TW" sz="2600" b="1" spc="50">
                <a:ln w="0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MS Gothic" pitchFamily="49" charset="-128"/>
                <a:cs typeface="Arial" panose="020B0604020202020204" pitchFamily="34" charset="0"/>
              </a:rPr>
            </a:br>
            <a:r>
              <a:rPr lang="zh-TW" altLang="en-US" sz="2600" b="1" spc="50">
                <a:ln w="0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MS Gothic" pitchFamily="49" charset="-128"/>
                <a:cs typeface="Arial" panose="020B0604020202020204" pitchFamily="34" charset="0"/>
              </a:rPr>
              <a:t>進銷存模組</a:t>
            </a:r>
            <a:br>
              <a:rPr lang="en-US" altLang="zh-TW" sz="2600" b="1" spc="50">
                <a:ln w="0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MS Gothic" pitchFamily="49" charset="-128"/>
                <a:cs typeface="Arial" panose="020B0604020202020204" pitchFamily="34" charset="0"/>
              </a:rPr>
            </a:br>
            <a:br>
              <a:rPr kumimoji="0" lang="zh-TW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MS Gothic"/>
                <a:cs typeface="Arial"/>
              </a:rPr>
            </a:br>
            <a:endParaRPr lang="zh-TW" altLang="en-US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A684B379-A1C7-36FB-6D71-DE48D72D38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71114C4-641B-3093-3261-887D3C1253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E16BF6D2-2176-46B8-8079-8715483BD4A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9200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FD71-0834-B050-F22D-AD4E86CD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66604721-39EC-B3B5-0086-9839B250BF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26F7EC-36E4-4BB9-94D5-A59396CA5EAE}"/>
              </a:ext>
            </a:extLst>
          </p:cNvPr>
          <p:cNvSpPr txBox="1"/>
          <p:nvPr/>
        </p:nvSpPr>
        <p:spPr>
          <a:xfrm>
            <a:off x="406400" y="1117600"/>
            <a:ext cx="113792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TW" sz="2800" b="1" dirty="0">
                <a:solidFill>
                  <a:srgbClr val="29AE9D"/>
                </a:solidFill>
                <a:latin typeface="Calibri"/>
                <a:ea typeface="微軟正黑體"/>
              </a:rPr>
              <a:t>1  Ragic、n8n &amp; PowerAutomate（1/2）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4BD2463-389F-4C0B-BE16-7345D420933F}"/>
              </a:ext>
            </a:extLst>
          </p:cNvPr>
          <p:cNvSpPr/>
          <p:nvPr/>
        </p:nvSpPr>
        <p:spPr>
          <a:xfrm>
            <a:off x="406400" y="2413000"/>
            <a:ext cx="11379200" cy="2545803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203200" bIns="203200" rtlCol="0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zh-TW" altLang="en-US" sz="2400" b="1" dirty="0">
                <a:solidFill>
                  <a:srgbClr val="29AE9D"/>
                </a:solidFill>
                <a:latin typeface="Calibri"/>
                <a:ea typeface="微軟正黑體"/>
              </a:rPr>
              <a:t>Ragic 流程優化</a:t>
            </a:r>
          </a:p>
          <a:p>
            <a:pPr marL="228600" indent="-228600">
              <a:lnSpc>
                <a:spcPct val="115000"/>
              </a:lnSpc>
              <a:spcBef>
                <a:spcPts val="20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工時計算修正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：更新 2026 最新節假日資料以計算精準可用工時。</a:t>
            </a:r>
          </a:p>
          <a:p>
            <a:pPr marL="228600" indent="-228600">
              <a:lnSpc>
                <a:spcPct val="115000"/>
              </a:lnSpc>
              <a:spcBef>
                <a:spcPts val="20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表單畫面調整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：優化工作回報表單為「分組顯示」，並簡化夏日津貼表單欄位。</a:t>
            </a:r>
          </a:p>
          <a:p>
            <a:pPr marL="228600" indent="-228600">
              <a:lnSpc>
                <a:spcPct val="115000"/>
              </a:lnSpc>
              <a:spcBef>
                <a:spcPts val="20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開發對接標準化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：新增 AI 線上建立計畫的 API 工具，並整理出 Ragic 系統整合白皮書，作為未來系統串接的技術標準。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9130D4-DBA6-4AEB-8722-742BAC808FF0}"/>
              </a:ext>
            </a:extLst>
          </p:cNvPr>
          <p:cNvSpPr/>
          <p:nvPr/>
        </p:nvSpPr>
        <p:spPr>
          <a:xfrm>
            <a:off x="406400" y="2413000"/>
            <a:ext cx="50800" cy="2545802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1742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FD71-0834-B050-F22D-AD4E86CD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66604721-39EC-B3B5-0086-9839B250BF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26F7EC-36E4-4BB9-94D5-A59396CA5EAE}"/>
              </a:ext>
            </a:extLst>
          </p:cNvPr>
          <p:cNvSpPr txBox="1"/>
          <p:nvPr/>
        </p:nvSpPr>
        <p:spPr>
          <a:xfrm>
            <a:off x="406400" y="1117600"/>
            <a:ext cx="113792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TW" sz="2800" b="1" dirty="0">
                <a:solidFill>
                  <a:srgbClr val="29AE9D"/>
                </a:solidFill>
                <a:latin typeface="Calibri"/>
                <a:ea typeface="微軟正黑體"/>
              </a:rPr>
              <a:t>1  Ragic、n8n &amp; PowerAutomate（2/2）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2A3ABAE-970D-4C30-B73E-281F3E18341D}"/>
              </a:ext>
            </a:extLst>
          </p:cNvPr>
          <p:cNvSpPr/>
          <p:nvPr/>
        </p:nvSpPr>
        <p:spPr>
          <a:xfrm>
            <a:off x="406400" y="1778000"/>
            <a:ext cx="11379200" cy="2517427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203200" bIns="203200" rtlCol="0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zh-TW" altLang="en-US" sz="2400" b="1" dirty="0">
                <a:solidFill>
                  <a:srgbClr val="29AE9D"/>
                </a:solidFill>
                <a:latin typeface="Calibri"/>
                <a:ea typeface="微軟正黑體"/>
              </a:rPr>
              <a:t>n8n 流程優化</a:t>
            </a:r>
          </a:p>
          <a:p>
            <a:pPr marL="228600" indent="-228600">
              <a:lnSpc>
                <a:spcPct val="115000"/>
              </a:lnSpc>
              <a:spcBef>
                <a:spcPts val="20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發票自動登錄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：完成發票資訊擷取並自動登錄表單的流程；新增每周自動發送工時使用率報告的工作流。</a:t>
            </a:r>
          </a:p>
          <a:p>
            <a:pPr marL="228600" indent="-228600">
              <a:lnSpc>
                <a:spcPct val="115000"/>
              </a:lnSpc>
              <a:spcBef>
                <a:spcPts val="20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伺服器搬遷與除錯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：完成報價單轉請購單自動化流程的伺服器遷移與測試，並將 Ragic 任務同步整合至每日晨間自動化掃描。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6B1E64-CA6F-4B6E-9F54-42B7802D459D}"/>
              </a:ext>
            </a:extLst>
          </p:cNvPr>
          <p:cNvSpPr/>
          <p:nvPr/>
        </p:nvSpPr>
        <p:spPr>
          <a:xfrm>
            <a:off x="406400" y="1778000"/>
            <a:ext cx="50800" cy="2517427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FE6A428-5329-4AAB-9CF4-7B092C7241BA}"/>
              </a:ext>
            </a:extLst>
          </p:cNvPr>
          <p:cNvSpPr/>
          <p:nvPr/>
        </p:nvSpPr>
        <p:spPr>
          <a:xfrm>
            <a:off x="406400" y="4866927"/>
            <a:ext cx="11379200" cy="1314260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203200" bIns="203200" rtlCol="0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zh-TW" altLang="en-US" sz="2400" b="1" dirty="0">
                <a:solidFill>
                  <a:srgbClr val="29AE9D"/>
                </a:solidFill>
                <a:latin typeface="Calibri"/>
                <a:ea typeface="微軟正黑體"/>
              </a:rPr>
              <a:t>PowerAutomate 流程優化</a:t>
            </a:r>
          </a:p>
          <a:p>
            <a:pPr marL="228600" indent="-228600">
              <a:lnSpc>
                <a:spcPct val="115000"/>
              </a:lnSpc>
              <a:spcBef>
                <a:spcPts val="20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流程斷線修復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：排除工作流與 Ragic 互動時的斷線情況，確保自動化流程穩定。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27248D-396D-4BD8-9AEA-9B7A679FA9BB}"/>
              </a:ext>
            </a:extLst>
          </p:cNvPr>
          <p:cNvSpPr/>
          <p:nvPr/>
        </p:nvSpPr>
        <p:spPr>
          <a:xfrm>
            <a:off x="406400" y="4866927"/>
            <a:ext cx="50800" cy="1314260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4236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30D6-C9D3-F79D-2216-1D87966E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A05FF3D-B5DE-AA90-DF67-F85DEBCB6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86C609E-DD81-4211-A959-4BAD38F14E4C}"/>
              </a:ext>
            </a:extLst>
          </p:cNvPr>
          <p:cNvSpPr txBox="1"/>
          <p:nvPr/>
        </p:nvSpPr>
        <p:spPr>
          <a:xfrm>
            <a:off x="406400" y="1092200"/>
            <a:ext cx="11379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zh-TW" altLang="en-US" sz="2800" b="1" dirty="0">
                <a:solidFill>
                  <a:srgbClr val="29AE9D"/>
                </a:solidFill>
                <a:latin typeface="Calibri"/>
                <a:ea typeface="微軟正黑體"/>
              </a:rPr>
              <a:t>2  FCI Portal（1/4）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E86E955-43C7-4811-A355-A603C47E44D0}"/>
              </a:ext>
            </a:extLst>
          </p:cNvPr>
          <p:cNvSpPr/>
          <p:nvPr/>
        </p:nvSpPr>
        <p:spPr>
          <a:xfrm>
            <a:off x="406400" y="2794000"/>
            <a:ext cx="11379200" cy="2179036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101600" bIns="10160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zh-TW" altLang="en-US" sz="2400" b="1" dirty="0">
                <a:solidFill>
                  <a:srgbClr val="29AE9D"/>
                </a:solidFill>
                <a:latin typeface="Calibri"/>
                <a:ea typeface="微軟正黑體"/>
              </a:rPr>
              <a:t>工作獎金看板</a:t>
            </a: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報表功能優化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：新增「依分數高低排序」功能，並將指標數值格式改為更好閱讀的小數點。</a:t>
            </a: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計算錯誤修正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：修復異常單多重扣分漏洞，並修正因系統欄位不一致導致「報告未繳/遲交」無法加總的錯誤。</a:t>
            </a:r>
            <a:endParaRPr lang="en-US" altLang="zh-TW" sz="2000" dirty="0">
              <a:solidFill>
                <a:srgbClr val="333333"/>
              </a:solidFill>
              <a:latin typeface="Calibri"/>
              <a:ea typeface="微軟正黑體"/>
            </a:endParaRP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endParaRPr lang="zh-TW" altLang="en-US" sz="2000" dirty="0">
              <a:solidFill>
                <a:srgbClr val="333333"/>
              </a:solidFill>
              <a:latin typeface="Calibri"/>
              <a:ea typeface="微軟正黑體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DD173B-4147-4036-9ADB-6BDDE2770D52}"/>
              </a:ext>
            </a:extLst>
          </p:cNvPr>
          <p:cNvSpPr/>
          <p:nvPr/>
        </p:nvSpPr>
        <p:spPr>
          <a:xfrm>
            <a:off x="406400" y="2794000"/>
            <a:ext cx="50800" cy="2176907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75050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30D6-C9D3-F79D-2216-1D87966E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A05FF3D-B5DE-AA90-DF67-F85DEBCB6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86C609E-DD81-4211-A959-4BAD38F14E4C}"/>
              </a:ext>
            </a:extLst>
          </p:cNvPr>
          <p:cNvSpPr txBox="1"/>
          <p:nvPr/>
        </p:nvSpPr>
        <p:spPr>
          <a:xfrm>
            <a:off x="406400" y="1092200"/>
            <a:ext cx="11379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zh-TW" altLang="en-US" sz="2800" b="1" dirty="0">
                <a:solidFill>
                  <a:srgbClr val="29AE9D"/>
                </a:solidFill>
                <a:latin typeface="Calibri"/>
                <a:ea typeface="微軟正黑體"/>
              </a:rPr>
              <a:t>2  FCI Portal（2/4）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5A8F7AB-0768-4661-96B5-8A28D20DD3B3}"/>
              </a:ext>
            </a:extLst>
          </p:cNvPr>
          <p:cNvSpPr/>
          <p:nvPr/>
        </p:nvSpPr>
        <p:spPr>
          <a:xfrm>
            <a:off x="406400" y="1841500"/>
            <a:ext cx="11379200" cy="2534453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101600" bIns="10160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zh-TW" altLang="en-US" sz="2400" b="1" dirty="0">
                <a:solidFill>
                  <a:srgbClr val="29AE9D"/>
                </a:solidFill>
                <a:latin typeface="Calibri"/>
                <a:ea typeface="微軟正黑體"/>
              </a:rPr>
              <a:t>派工戰情中心</a:t>
            </a: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介面功能新增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：新增「滑鼠懸停即時顯示派工詳情」與「預排案件虛線顯示」功能，方便同仁協調出工。</a:t>
            </a: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資料排版優化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：新增「更新排程」按鈕，只更新未完工排程以保護歷史資料，並優化手機版與排版畫面。</a:t>
            </a: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資訊錯誤修正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：修正休假人員顯示錯誤，以及部分姓名因有空格導致配對失敗的 Bug。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D09587-B477-4337-A9F7-1275251C0731}"/>
              </a:ext>
            </a:extLst>
          </p:cNvPr>
          <p:cNvSpPr/>
          <p:nvPr/>
        </p:nvSpPr>
        <p:spPr>
          <a:xfrm>
            <a:off x="406400" y="1841500"/>
            <a:ext cx="50800" cy="2534453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69F2343-F8EE-4F1F-90AD-BA6F54BD365F}"/>
              </a:ext>
            </a:extLst>
          </p:cNvPr>
          <p:cNvSpPr/>
          <p:nvPr/>
        </p:nvSpPr>
        <p:spPr>
          <a:xfrm>
            <a:off x="406400" y="4756953"/>
            <a:ext cx="11379200" cy="1433442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101600" bIns="10160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zh-TW" altLang="en-US" sz="2400" b="1" dirty="0">
                <a:solidFill>
                  <a:srgbClr val="29AE9D"/>
                </a:solidFill>
                <a:latin typeface="Calibri"/>
                <a:ea typeface="微軟正黑體"/>
              </a:rPr>
              <a:t>工作回報 (Mario-PACMAN-SIMPLE)</a:t>
            </a: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單一登入整合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：將 Pac-Man 與 Mario 系統與入口網站整合，同仁登入後會自動對應 Ragic 相應部門。</a:t>
            </a: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回報網頁除錯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：修復同仁在提交維修紀錄時，表單資料無法自動載入的 Bug。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200413-5522-423E-88F6-ABCC45DCED66}"/>
              </a:ext>
            </a:extLst>
          </p:cNvPr>
          <p:cNvSpPr/>
          <p:nvPr/>
        </p:nvSpPr>
        <p:spPr>
          <a:xfrm>
            <a:off x="406400" y="4756953"/>
            <a:ext cx="50800" cy="1433442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18909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30D6-C9D3-F79D-2216-1D87966E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A05FF3D-B5DE-AA90-DF67-F85DEBCB6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86C609E-DD81-4211-A959-4BAD38F14E4C}"/>
              </a:ext>
            </a:extLst>
          </p:cNvPr>
          <p:cNvSpPr txBox="1"/>
          <p:nvPr/>
        </p:nvSpPr>
        <p:spPr>
          <a:xfrm>
            <a:off x="406400" y="1092200"/>
            <a:ext cx="11379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zh-TW" altLang="en-US" sz="2800" b="1" dirty="0">
                <a:solidFill>
                  <a:srgbClr val="29AE9D"/>
                </a:solidFill>
                <a:latin typeface="Calibri"/>
                <a:ea typeface="微軟正黑體"/>
              </a:rPr>
              <a:t>2  FCI Portal（3/4）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083A3A3-0988-432B-A81A-0B892B4FD2EC}"/>
              </a:ext>
            </a:extLst>
          </p:cNvPr>
          <p:cNvSpPr/>
          <p:nvPr/>
        </p:nvSpPr>
        <p:spPr>
          <a:xfrm>
            <a:off x="406400" y="2222500"/>
            <a:ext cx="11379200" cy="2818218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228600" bIns="22860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zh-TW" altLang="en-US" sz="2400" b="1" dirty="0">
                <a:solidFill>
                  <a:srgbClr val="29AE9D"/>
                </a:solidFill>
                <a:latin typeface="Calibri"/>
                <a:ea typeface="微軟正黑體"/>
              </a:rPr>
              <a:t>FCI RAG 企業知識庫系統</a:t>
            </a: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AI 查詢功能上線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：建置 AI 對話網頁，同仁可用白話文詢問維修問題，並可回顧歷史對話。</a:t>
            </a: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維修手冊精準導入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：完成大篇幅閥門維修手冊的拆解與導入，並優化檢索機制，使 AI 答覆的精準度達到 100%。</a:t>
            </a: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用量監控與反饋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：設計管理後台查看使用量，並在對話框新增「點讚/點踩」按鈕以收集同仁回饋。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2E8C9C-AD41-43C3-B96F-059EFC711F9D}"/>
              </a:ext>
            </a:extLst>
          </p:cNvPr>
          <p:cNvSpPr/>
          <p:nvPr/>
        </p:nvSpPr>
        <p:spPr>
          <a:xfrm>
            <a:off x="406400" y="2222500"/>
            <a:ext cx="50800" cy="2818217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24845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30D6-C9D3-F79D-2216-1D87966E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A05FF3D-B5DE-AA90-DF67-F85DEBCB6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86C609E-DD81-4211-A959-4BAD38F14E4C}"/>
              </a:ext>
            </a:extLst>
          </p:cNvPr>
          <p:cNvSpPr txBox="1"/>
          <p:nvPr/>
        </p:nvSpPr>
        <p:spPr>
          <a:xfrm>
            <a:off x="406400" y="1092200"/>
            <a:ext cx="113792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zh-TW" altLang="en-US" sz="2800" b="1" dirty="0">
                <a:solidFill>
                  <a:srgbClr val="29AE9D"/>
                </a:solidFill>
                <a:latin typeface="Calibri"/>
                <a:ea typeface="微軟正黑體"/>
              </a:rPr>
              <a:t>2  FCI Portal（4/4）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5F87A01-631E-4A50-B580-109E86F58920}"/>
              </a:ext>
            </a:extLst>
          </p:cNvPr>
          <p:cNvSpPr/>
          <p:nvPr/>
        </p:nvSpPr>
        <p:spPr>
          <a:xfrm>
            <a:off x="406400" y="3027084"/>
            <a:ext cx="11379200" cy="1921430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320000" bIns="32000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zh-TW" altLang="en-US" sz="2400" b="1" dirty="0">
                <a:solidFill>
                  <a:srgbClr val="29AE9D"/>
                </a:solidFill>
                <a:latin typeface="Calibri"/>
                <a:ea typeface="微軟正黑體"/>
              </a:rPr>
              <a:t>Receipt 憑證與發票上傳服務</a:t>
            </a: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高鐵車票自動下載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：開發自動化工具，能避開網站防禦，自動下載電子車票 PDF 以利報稅使用。</a:t>
            </a:r>
          </a:p>
          <a:p>
            <a:pPr marL="228600" indent="-228600">
              <a:lnSpc>
                <a:spcPct val="105000"/>
              </a:lnSpc>
              <a:spcBef>
                <a:spcPts val="15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發票上傳斷線修復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：排除發票上傳工具在生產環境的斷線錯誤，確保發票資料上傳穩定。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2FE354-E4D6-4CEB-8FAE-A482368021D0}"/>
              </a:ext>
            </a:extLst>
          </p:cNvPr>
          <p:cNvSpPr/>
          <p:nvPr/>
        </p:nvSpPr>
        <p:spPr>
          <a:xfrm>
            <a:off x="406400" y="3027084"/>
            <a:ext cx="50800" cy="1921430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25976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B2785-F0A8-5360-ADE0-63201B972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BF587CBF-003A-E757-C688-581B0316E5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521" y="451778"/>
            <a:ext cx="3924750" cy="546329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D342442-97B7-466C-A8F3-858C5BE32588}"/>
              </a:ext>
            </a:extLst>
          </p:cNvPr>
          <p:cNvSpPr txBox="1"/>
          <p:nvPr/>
        </p:nvSpPr>
        <p:spPr>
          <a:xfrm>
            <a:off x="406400" y="1117600"/>
            <a:ext cx="113792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TW" sz="2800" b="1" dirty="0">
                <a:solidFill>
                  <a:srgbClr val="29AE9D"/>
                </a:solidFill>
                <a:latin typeface="Calibri"/>
                <a:ea typeface="微軟正黑體"/>
              </a:rPr>
              <a:t>3  </a:t>
            </a:r>
            <a:r>
              <a:rPr lang="zh-TW" altLang="en-US" sz="2800" b="1" dirty="0">
                <a:solidFill>
                  <a:srgbClr val="29AE9D"/>
                </a:solidFill>
                <a:latin typeface="Calibri"/>
                <a:ea typeface="微軟正黑體"/>
              </a:rPr>
              <a:t>建立虛擬助理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4C16357-4A28-4758-8658-868C2F2FF016}"/>
              </a:ext>
            </a:extLst>
          </p:cNvPr>
          <p:cNvSpPr/>
          <p:nvPr/>
        </p:nvSpPr>
        <p:spPr>
          <a:xfrm>
            <a:off x="406400" y="1524000"/>
            <a:ext cx="11379200" cy="1762610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228600" bIns="228600" rtlCol="0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zh-TW" altLang="en-US" sz="2400" b="1" dirty="0">
                <a:solidFill>
                  <a:srgbClr val="29AE9D"/>
                </a:solidFill>
                <a:latin typeface="Calibri"/>
                <a:ea typeface="微軟正黑體"/>
              </a:rPr>
              <a:t>Agent Mira（規格書比對助理）</a:t>
            </a:r>
          </a:p>
          <a:p>
            <a:pPr marL="228600" indent="-228600">
              <a:lnSpc>
                <a:spcPct val="115000"/>
              </a:lnSpc>
              <a:spcBef>
                <a:spcPts val="20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規格對照網頁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：完成閥門規格的 AI 深度比對，並產出動態規格對照網頁，方便銷售團隊快速查閱。</a:t>
            </a:r>
            <a:r>
              <a:rPr lang="zh-TW" altLang="en-US" sz="2000" i="1" dirty="0">
                <a:solidFill>
                  <a:srgbClr val="666666"/>
                </a:solidFill>
                <a:latin typeface="Calibri"/>
                <a:ea typeface="微軟正黑體"/>
              </a:rPr>
              <a:t> (5月已完成)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BB0EF1-8109-4704-B02C-9172DC0526E4}"/>
              </a:ext>
            </a:extLst>
          </p:cNvPr>
          <p:cNvSpPr/>
          <p:nvPr/>
        </p:nvSpPr>
        <p:spPr>
          <a:xfrm>
            <a:off x="406400" y="1524000"/>
            <a:ext cx="50800" cy="1762610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1BDAA41-C83B-49D0-9850-BC83A0F1FB1E}"/>
              </a:ext>
            </a:extLst>
          </p:cNvPr>
          <p:cNvSpPr/>
          <p:nvPr/>
        </p:nvSpPr>
        <p:spPr>
          <a:xfrm>
            <a:off x="406400" y="3388210"/>
            <a:ext cx="11379200" cy="2957152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400000" bIns="400000" rtlCol="0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zh-TW" altLang="en-US" sz="2400" b="1" dirty="0">
                <a:solidFill>
                  <a:srgbClr val="29AE9D"/>
                </a:solidFill>
                <a:latin typeface="Calibri"/>
                <a:ea typeface="微軟正黑體"/>
              </a:rPr>
              <a:t>Agent SRV（安全閥助理）</a:t>
            </a:r>
          </a:p>
          <a:p>
            <a:pPr marL="228600" indent="-228600">
              <a:lnSpc>
                <a:spcPct val="115000"/>
              </a:lnSpc>
              <a:spcBef>
                <a:spcPts val="20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自動填單與測試通過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：完成安全閥選型網站的自動填單程式開發，經 15 筆測試資料全跑，100% 成功寫入系統無錯誤。</a:t>
            </a:r>
          </a:p>
          <a:p>
            <a:pPr marL="228600" indent="-228600">
              <a:lnSpc>
                <a:spcPct val="115000"/>
              </a:lnSpc>
              <a:spcBef>
                <a:spcPts val="20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小工具打包分發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：優化程式使其不干涉同仁平常使用的瀏覽器，打包成免安裝的執行檔與操作說明，供同仁下載使用。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6A3082-3004-44DC-8CD9-A66C32C9FE80}"/>
              </a:ext>
            </a:extLst>
          </p:cNvPr>
          <p:cNvSpPr/>
          <p:nvPr/>
        </p:nvSpPr>
        <p:spPr>
          <a:xfrm>
            <a:off x="406400" y="3388210"/>
            <a:ext cx="50800" cy="2957151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72715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25E9-754D-3DF6-BD70-87B49244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EE9B5A9-7CD1-D9CD-AD30-FDF2EE8C7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521" y="451778"/>
            <a:ext cx="3924750" cy="546329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latin typeface="Calibri"/>
                <a:ea typeface="微軟正黑體"/>
              </a:rPr>
              <a:t>上月執行項目</a:t>
            </a:r>
            <a:r>
              <a:rPr lang="zh-TW" altLang="en-US" dirty="0">
                <a:latin typeface="Calibri"/>
                <a:ea typeface="微軟正黑體"/>
              </a:rPr>
              <a:t>-</a:t>
            </a:r>
            <a:r>
              <a:rPr lang="en-US" altLang="zh-TW" dirty="0">
                <a:latin typeface="Calibri"/>
                <a:ea typeface="微軟正黑體"/>
              </a:rPr>
              <a:t>Gary</a:t>
            </a:r>
            <a:endParaRPr lang="zh-TW" altLang="en-US" b="1" dirty="0">
              <a:latin typeface="Calibri"/>
              <a:ea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4250B00-2B3F-49D2-8CAE-16981A6969FF}"/>
              </a:ext>
            </a:extLst>
          </p:cNvPr>
          <p:cNvSpPr txBox="1"/>
          <p:nvPr/>
        </p:nvSpPr>
        <p:spPr>
          <a:xfrm>
            <a:off x="406400" y="1117600"/>
            <a:ext cx="113792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TW" sz="2800" b="1">
                <a:solidFill>
                  <a:srgbClr val="29AE9D"/>
                </a:solidFill>
                <a:latin typeface="Calibri"/>
                <a:ea typeface="微軟正黑體"/>
              </a:rPr>
              <a:t>4  Side Project</a:t>
            </a:r>
            <a:endParaRPr lang="zh-TW" altLang="en-US" sz="2800" b="1">
              <a:solidFill>
                <a:srgbClr val="29AE9D"/>
              </a:solidFill>
              <a:latin typeface="Calibri"/>
              <a:ea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ADDC548-0EE4-4E35-BFD2-BCACCF09494E}"/>
              </a:ext>
            </a:extLst>
          </p:cNvPr>
          <p:cNvSpPr/>
          <p:nvPr/>
        </p:nvSpPr>
        <p:spPr>
          <a:xfrm>
            <a:off x="406400" y="2032000"/>
            <a:ext cx="11379200" cy="1007067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60000" bIns="60000" rtlCol="0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zh-TW" altLang="en-US" sz="2400" b="1" dirty="0">
                <a:solidFill>
                  <a:srgbClr val="29AE9D"/>
                </a:solidFill>
                <a:latin typeface="Calibri"/>
                <a:ea typeface="微軟正黑體"/>
              </a:rPr>
              <a:t>RFID 數位履歷系統</a:t>
            </a:r>
          </a:p>
          <a:p>
            <a:pPr marL="228600" indent="-22860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實體安裝規劃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：將 RFID 標籤提供給技服派工團隊，共同評估適合安裝在現場閥門的實體位置。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BD53A2-66BD-4064-AB68-D47DEF793043}"/>
              </a:ext>
            </a:extLst>
          </p:cNvPr>
          <p:cNvSpPr/>
          <p:nvPr/>
        </p:nvSpPr>
        <p:spPr>
          <a:xfrm>
            <a:off x="406400" y="2032000"/>
            <a:ext cx="50800" cy="1007066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D3CA070-938B-4A59-897C-7EA00DF62197}"/>
              </a:ext>
            </a:extLst>
          </p:cNvPr>
          <p:cNvSpPr/>
          <p:nvPr/>
        </p:nvSpPr>
        <p:spPr>
          <a:xfrm>
            <a:off x="406400" y="3928066"/>
            <a:ext cx="11379200" cy="1907252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280000" bIns="280000" rtlCol="0" anchor="ctr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zh-TW" altLang="en-US" sz="2400" b="1" dirty="0">
                <a:solidFill>
                  <a:srgbClr val="29AE9D"/>
                </a:solidFill>
                <a:latin typeface="Calibri"/>
                <a:ea typeface="微軟正黑體"/>
              </a:rPr>
              <a:t>ESL（電子標籤）導入計畫</a:t>
            </a:r>
          </a:p>
          <a:p>
            <a:pPr marL="228600" indent="-228600">
              <a:lnSpc>
                <a:spcPct val="120000"/>
              </a:lnSpc>
              <a:spcBef>
                <a:spcPts val="200"/>
              </a:spcBef>
              <a:buFont typeface="Arial"/>
              <a:buChar char="•"/>
            </a:pPr>
            <a:r>
              <a:rPr lang="zh-TW" altLang="en-US" sz="2000" b="1" dirty="0">
                <a:solidFill>
                  <a:srgbClr val="333333"/>
                </a:solidFill>
                <a:latin typeface="Calibri"/>
                <a:ea typeface="微軟正黑體"/>
              </a:rPr>
              <a:t>參訪與場景評估</a:t>
            </a:r>
            <a:r>
              <a:rPr lang="zh-TW" altLang="en-US" sz="2000" dirty="0">
                <a:solidFill>
                  <a:srgbClr val="333333"/>
                </a:solidFill>
                <a:latin typeface="Calibri"/>
                <a:ea typeface="微軟正黑體"/>
              </a:rPr>
              <a:t>：前往物流中心參訪電子標籤應用，評估於一樓廠區佈建，用於收料程序、工作區狀態、廠區資訊及會議室來賓名牌等現場看板。</a:t>
            </a:r>
            <a:r>
              <a:rPr lang="zh-TW" altLang="en-US" sz="2000" i="1" dirty="0">
                <a:solidFill>
                  <a:srgbClr val="666666"/>
                </a:solidFill>
                <a:latin typeface="Calibri"/>
                <a:ea typeface="微軟正黑體"/>
              </a:rPr>
              <a:t> (進行中)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CE5BF8-D1AF-4699-B631-94DC254F8B5C}"/>
              </a:ext>
            </a:extLst>
          </p:cNvPr>
          <p:cNvSpPr/>
          <p:nvPr/>
        </p:nvSpPr>
        <p:spPr>
          <a:xfrm>
            <a:off x="406400" y="3928066"/>
            <a:ext cx="50800" cy="1907252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Calibri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72294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2CA26-3E2C-2070-D7EF-E607D74C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BCF3608D-3884-DDF2-4042-D948D93F0F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 b="1" dirty="0">
                <a:ea typeface="微軟正黑體"/>
              </a:rPr>
              <a:t>次月執行項目</a:t>
            </a:r>
            <a:r>
              <a:rPr lang="zh-TW" altLang="en-US" dirty="0">
                <a:ea typeface="微軟正黑體"/>
              </a:rPr>
              <a:t>-</a:t>
            </a:r>
            <a:r>
              <a:rPr lang="en-US" altLang="zh-TW" dirty="0">
                <a:ea typeface="微軟正黑體"/>
              </a:rPr>
              <a:t>Gary</a:t>
            </a:r>
            <a:endParaRPr lang="zh-TW" altLang="en-US" b="1" dirty="0">
              <a:ea typeface="微軟正黑體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1F5117F0-BE5E-4E00-B59D-CC953A9C417F}"/>
              </a:ext>
            </a:extLst>
          </p:cNvPr>
          <p:cNvSpPr/>
          <p:nvPr/>
        </p:nvSpPr>
        <p:spPr>
          <a:xfrm>
            <a:off x="406400" y="1574800"/>
            <a:ext cx="11379200" cy="896699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203200" bIns="203200" rtlCol="0" anchor="ctr">
            <a:spAutoFit/>
          </a:bodyPr>
          <a:lstStyle/>
          <a:p>
            <a:pPr marL="0" indent="0">
              <a:buNone/>
            </a:pPr>
            <a:r>
              <a:rPr lang="zh-TW" altLang="en-US" sz="2600" b="1" dirty="0">
                <a:solidFill>
                  <a:srgbClr val="29AE9D"/>
                </a:solidFill>
                <a:latin typeface="Calibri"/>
                <a:ea typeface="微軟正黑體"/>
              </a:rPr>
              <a:t>1. Ragic, n8n &amp; Power Automate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E6C9A5-2737-4A10-948B-9B793A7BFAEE}"/>
              </a:ext>
            </a:extLst>
          </p:cNvPr>
          <p:cNvSpPr/>
          <p:nvPr/>
        </p:nvSpPr>
        <p:spPr>
          <a:xfrm>
            <a:off x="406400" y="1574800"/>
            <a:ext cx="63500" cy="896698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9F2C721-7875-43E3-8743-C862BD49103E}"/>
              </a:ext>
            </a:extLst>
          </p:cNvPr>
          <p:cNvSpPr/>
          <p:nvPr/>
        </p:nvSpPr>
        <p:spPr>
          <a:xfrm>
            <a:off x="406400" y="3645161"/>
            <a:ext cx="11379200" cy="896699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203200" bIns="203200" rtlCol="0" anchor="ctr">
            <a:spAutoFit/>
          </a:bodyPr>
          <a:lstStyle/>
          <a:p>
            <a:pPr marL="0" indent="0">
              <a:buNone/>
            </a:pPr>
            <a:r>
              <a:rPr lang="zh-TW" altLang="en-US" sz="2600" b="1" dirty="0">
                <a:solidFill>
                  <a:srgbClr val="29AE9D"/>
                </a:solidFill>
                <a:latin typeface="Calibri"/>
                <a:ea typeface="微軟正黑體"/>
              </a:rPr>
              <a:t>2. </a:t>
            </a:r>
            <a:r>
              <a:rPr lang="en-US" altLang="zh-TW" sz="2600" b="1" dirty="0">
                <a:solidFill>
                  <a:srgbClr val="29AE9D"/>
                </a:solidFill>
                <a:latin typeface="Calibri"/>
                <a:ea typeface="微軟正黑體"/>
              </a:rPr>
              <a:t>FCI Portal</a:t>
            </a:r>
            <a:endParaRPr lang="zh-TW" altLang="en-US" sz="2600" b="1" dirty="0">
              <a:solidFill>
                <a:srgbClr val="29AE9D"/>
              </a:solidFill>
              <a:latin typeface="Calibri"/>
              <a:ea typeface="微軟正黑體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4C06D1-7B64-481C-AE89-01DF695EF872}"/>
              </a:ext>
            </a:extLst>
          </p:cNvPr>
          <p:cNvSpPr/>
          <p:nvPr/>
        </p:nvSpPr>
        <p:spPr>
          <a:xfrm>
            <a:off x="406400" y="3645161"/>
            <a:ext cx="63500" cy="896698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3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28032-4229-3534-AE80-3AB7D0CD3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圓角 8">
            <a:extLst>
              <a:ext uri="{FF2B5EF4-FFF2-40B4-BE49-F238E27FC236}">
                <a16:creationId xmlns:a16="http://schemas.microsoft.com/office/drawing/2014/main" id="{BC7F140E-77A3-E789-93EB-4669ABDF759F}"/>
              </a:ext>
            </a:extLst>
          </p:cNvPr>
          <p:cNvSpPr/>
          <p:nvPr/>
        </p:nvSpPr>
        <p:spPr>
          <a:xfrm>
            <a:off x="437932" y="1600697"/>
            <a:ext cx="11379200" cy="896699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203200" bIns="203200" rtlCol="0" anchor="ctr">
            <a:spAutoFit/>
          </a:bodyPr>
          <a:lstStyle/>
          <a:p>
            <a:pPr marL="0" indent="0">
              <a:buNone/>
            </a:pPr>
            <a:r>
              <a:rPr lang="zh-TW" altLang="en-US" sz="2600" b="1" dirty="0">
                <a:solidFill>
                  <a:srgbClr val="29AE9D"/>
                </a:solidFill>
                <a:latin typeface="Calibri"/>
                <a:ea typeface="微軟正黑體"/>
              </a:rPr>
              <a:t>3. 建立虛擬助理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D394AFD-A7AA-2D89-1886-B09998C1610F}"/>
              </a:ext>
            </a:extLst>
          </p:cNvPr>
          <p:cNvSpPr/>
          <p:nvPr/>
        </p:nvSpPr>
        <p:spPr>
          <a:xfrm>
            <a:off x="406400" y="3592225"/>
            <a:ext cx="11379200" cy="896699"/>
          </a:xfrm>
          <a:prstGeom prst="roundRect">
            <a:avLst/>
          </a:prstGeom>
          <a:solidFill>
            <a:srgbClr val="EAF6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tIns="203200" bIns="203200" rtlCol="0" anchor="ctr">
            <a:spAutoFit/>
          </a:bodyPr>
          <a:lstStyle/>
          <a:p>
            <a:pPr marL="0" indent="0">
              <a:buNone/>
            </a:pPr>
            <a:r>
              <a:rPr lang="zh-TW" altLang="en-US" sz="2600" b="1" dirty="0">
                <a:solidFill>
                  <a:srgbClr val="29AE9D"/>
                </a:solidFill>
                <a:latin typeface="Calibri"/>
                <a:ea typeface="微軟正黑體"/>
              </a:rPr>
              <a:t>4. </a:t>
            </a:r>
            <a:r>
              <a:rPr lang="en-US" altLang="zh-TW" sz="2600" b="1" dirty="0">
                <a:solidFill>
                  <a:srgbClr val="29AE9D"/>
                </a:solidFill>
                <a:latin typeface="Calibri"/>
                <a:ea typeface="微軟正黑體"/>
              </a:rPr>
              <a:t>Side Project</a:t>
            </a:r>
            <a:endParaRPr lang="zh-TW" altLang="en-US" sz="2600" b="1" dirty="0">
              <a:solidFill>
                <a:srgbClr val="29AE9D"/>
              </a:solidFill>
              <a:latin typeface="Calibri"/>
              <a:ea typeface="微軟正黑體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0FB216A-A654-46C2-874E-7496D04868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zh-TW" altLang="en-US">
                <a:ea typeface="微軟正黑體"/>
              </a:rPr>
              <a:t>本</a:t>
            </a:r>
            <a:r>
              <a:rPr lang="zh-TW" altLang="en-US" b="1">
                <a:ea typeface="微軟正黑體"/>
              </a:rPr>
              <a:t>月執行項目</a:t>
            </a:r>
            <a:r>
              <a:rPr lang="zh-TW" altLang="en-US">
                <a:ea typeface="微軟正黑體"/>
              </a:rPr>
              <a:t>-</a:t>
            </a:r>
            <a:r>
              <a:rPr lang="en-US" altLang="zh-TW">
                <a:ea typeface="微軟正黑體"/>
              </a:rPr>
              <a:t>Gary</a:t>
            </a:r>
            <a:endParaRPr lang="zh-TW" altLang="en-US" b="1">
              <a:ea typeface="微軟正黑體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ADD78E-6480-6CC7-2F94-8309B1174C0F}"/>
              </a:ext>
            </a:extLst>
          </p:cNvPr>
          <p:cNvSpPr/>
          <p:nvPr/>
        </p:nvSpPr>
        <p:spPr>
          <a:xfrm>
            <a:off x="406400" y="1574800"/>
            <a:ext cx="63500" cy="896698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B1E388-4F85-A9F3-380E-7F9A7A0A77A8}"/>
              </a:ext>
            </a:extLst>
          </p:cNvPr>
          <p:cNvSpPr/>
          <p:nvPr/>
        </p:nvSpPr>
        <p:spPr>
          <a:xfrm>
            <a:off x="406400" y="3571397"/>
            <a:ext cx="63500" cy="896698"/>
          </a:xfrm>
          <a:prstGeom prst="rect">
            <a:avLst/>
          </a:prstGeom>
          <a:solidFill>
            <a:srgbClr val="29AE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7063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1524000" y="427038"/>
            <a:ext cx="9144000" cy="625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ctr">
              <a:spcBef>
                <a:spcPct val="0"/>
              </a:spcBef>
              <a:defRPr/>
            </a:pPr>
            <a:endParaRPr lang="zh-TW" altLang="en-US" sz="4400" b="1" dirty="0">
              <a:latin typeface="微軟正黑體" pitchFamily="34" charset="-120"/>
              <a:ea typeface="微軟正黑體" pitchFamily="34" charset="-120"/>
              <a:cs typeface="+mj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AC08829-1FBC-5113-ED78-1B20266F08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執行瓶頸及須協調事項</a:t>
            </a:r>
            <a:br>
              <a:rPr lang="zh-TW" altLang="en-US" dirty="0">
                <a:latin typeface="微軟正黑體" pitchFamily="34" charset="-120"/>
                <a:ea typeface="微軟正黑體" pitchFamily="34" charset="-120"/>
              </a:rPr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8580D7-1138-1B30-1267-57AC187E7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521" y="1708314"/>
            <a:ext cx="10528136" cy="1986231"/>
          </a:xfrm>
        </p:spPr>
        <p:txBody>
          <a:bodyPr>
            <a:normAutofit/>
          </a:bodyPr>
          <a:lstStyle/>
          <a:p>
            <a:r>
              <a:rPr lang="en-US" altLang="zh-TW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N/A</a:t>
            </a:r>
            <a:endParaRPr lang="en-US" altLang="zh-TW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E3BB2-A781-5E94-76FB-48B324AD40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ACalibri (本文)"/>
              </a:rPr>
              <a:t>THANK YOU</a:t>
            </a:r>
            <a:endParaRPr lang="zh-TW" altLang="en-US" sz="5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ACalibri (本文)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AFE0289-9366-A523-FAA2-FED85AA710A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67463"/>
            <a:ext cx="1406525" cy="365125"/>
          </a:xfrm>
        </p:spPr>
        <p:txBody>
          <a:bodyPr/>
          <a:lstStyle/>
          <a:p>
            <a:r>
              <a:rPr lang="en-US" altLang="zh-TW"/>
              <a:t>2023/6/30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948D3F-2449-1AA1-26D0-5287065F27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E16BF6D2-2176-46B8-8079-8715483BD4A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490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14B0A2-88DE-4D5E-BBD3-E062F4D8839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3b67381-a978-46b5-95fb-cc33284d91c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787852D47EDCC24A90006A9420FF3ED0" ma:contentTypeVersion="18" ma:contentTypeDescription="建立新的文件。" ma:contentTypeScope="" ma:versionID="0efe646740ce4e51f2689e5f32739235">
  <xsd:schema xmlns:xsd="http://www.w3.org/2001/XMLSchema" xmlns:xs="http://www.w3.org/2001/XMLSchema" xmlns:p="http://schemas.microsoft.com/office/2006/metadata/properties" xmlns:ns2="e8c48f55-a724-46fc-9e70-e06146c08dfe" xmlns:ns3="56119330-9c2c-4e4e-9d19-1f1f024b3000" targetNamespace="http://schemas.microsoft.com/office/2006/metadata/properties" ma:root="true" ma:fieldsID="f98f4c2d397614c2937807b734ea1aed" ns2:_="" ns3:_="">
    <xsd:import namespace="e8c48f55-a724-46fc-9e70-e06146c08dfe"/>
    <xsd:import namespace="56119330-9c2c-4e4e-9d19-1f1f024b30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c48f55-a724-46fc-9e70-e06146c08d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影像標籤" ma:readOnly="false" ma:fieldId="{5cf76f15-5ced-4ddc-b409-7134ff3c332f}" ma:taxonomyMulti="true" ma:sspId="e6fe1c97-7782-453d-afcd-6042c734b3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19330-9c2c-4e4e-9d19-1f1f024b3000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e474e98b-739d-46cc-963a-87d8a1c5bea0}" ma:internalName="TaxCatchAll" ma:showField="CatchAllData" ma:web="56119330-9c2c-4e4e-9d19-1f1f024b30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51E18D-2773-4162-9914-8841E7CBE1F1}">
  <ds:schemaRefs>
    <ds:schemaRef ds:uri="56119330-9c2c-4e4e-9d19-1f1f024b3000"/>
    <ds:schemaRef ds:uri="e8c48f55-a724-46fc-9e70-e06146c08df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7E22B9-D971-4C92-B611-09CF70D158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1843</TotalTime>
  <Words>902</Words>
  <Application>Microsoft Office PowerPoint</Application>
  <PresentationFormat>寬螢幕</PresentationFormat>
  <Paragraphs>66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Mukta Regular</vt:lpstr>
      <vt:lpstr>Noto Sans CJK TC Regular</vt:lpstr>
      <vt:lpstr>THACalibri (本文)</vt:lpstr>
      <vt:lpstr>微軟正黑體</vt:lpstr>
      <vt:lpstr>Aptos</vt:lpstr>
      <vt:lpstr>Arial</vt:lpstr>
      <vt:lpstr>Calibri</vt:lpstr>
      <vt:lpstr>Office 佈景主題</vt:lpstr>
      <vt:lpstr>Ragic / KM / Flow Project Task Force Meeting 進銷存模組  </vt:lpstr>
      <vt:lpstr>上月執行項目-Gary</vt:lpstr>
      <vt:lpstr>上月執行項目-Gary</vt:lpstr>
      <vt:lpstr>上月執行項目-Gary</vt:lpstr>
      <vt:lpstr>上月執行項目-Gary</vt:lpstr>
      <vt:lpstr>上月執行項目-Gary</vt:lpstr>
      <vt:lpstr>上月執行項目-Gary</vt:lpstr>
      <vt:lpstr>上月執行項目-Gary</vt:lpstr>
      <vt:lpstr>上月執行項目-Gary</vt:lpstr>
      <vt:lpstr>次月執行項目-Gary</vt:lpstr>
      <vt:lpstr>本月執行項目-Gary</vt:lpstr>
      <vt:lpstr>執行瓶頸及須協調事項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KAI-HUA TSAI</dc:creator>
  <cp:lastModifiedBy>Gary Tzeng 曾文信</cp:lastModifiedBy>
  <cp:revision>8</cp:revision>
  <cp:lastPrinted>2025-05-07T06:48:54Z</cp:lastPrinted>
  <dcterms:created xsi:type="dcterms:W3CDTF">2024-06-12T02:22:16Z</dcterms:created>
  <dcterms:modified xsi:type="dcterms:W3CDTF">2026-08-05T03:30:44Z</dcterms:modified>
</cp:coreProperties>
</file>